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300" r:id="rId4"/>
    <p:sldId id="258" r:id="rId5"/>
    <p:sldId id="259" r:id="rId6"/>
    <p:sldId id="261" r:id="rId7"/>
    <p:sldId id="262" r:id="rId8"/>
    <p:sldId id="278" r:id="rId9"/>
    <p:sldId id="279" r:id="rId10"/>
    <p:sldId id="280" r:id="rId11"/>
    <p:sldId id="284" r:id="rId12"/>
    <p:sldId id="329" r:id="rId13"/>
    <p:sldId id="287" r:id="rId14"/>
    <p:sldId id="293" r:id="rId15"/>
    <p:sldId id="311" r:id="rId16"/>
    <p:sldId id="295" r:id="rId17"/>
    <p:sldId id="321" r:id="rId18"/>
    <p:sldId id="296" r:id="rId19"/>
    <p:sldId id="297" r:id="rId20"/>
    <p:sldId id="299" r:id="rId21"/>
  </p:sldIdLst>
  <p:sldSz cx="12192000" cy="6858000"/>
  <p:notesSz cx="6858000" cy="9144000"/>
  <p:embeddedFontLst>
    <p:embeddedFont>
      <p:font typeface="SimSun" panose="02010600030101010101" pitchFamily="2" charset="-122"/>
      <p:regular r:id="rId23"/>
    </p:embeddedFont>
    <p:embeddedFont>
      <p:font typeface="Calibri" panose="020F0502020204030204" pitchFamily="34" charset="0"/>
      <p:regular r:id="rId24"/>
      <p:bold r:id="rId25"/>
      <p:italic r:id="rId26"/>
      <p:boldItalic r:id="rId27"/>
    </p:embeddedFont>
    <p:embeddedFont>
      <p:font typeface="Gill Sans"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660"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8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82"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8" Type="http://schemas.openxmlformats.org/officeDocument/2006/relationships/slide" Target="slides/slide7.xml"/><Relationship Id="rId8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52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24d66b2ad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524d66b2a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2524d66b2ad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g2524d66b2ad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0579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oracle.com/java/technologies/java-ee-glance.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SOAP EN JAVA SIN BASE DE DATOS </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Alexander Maila</a:t>
            </a:r>
            <a:br>
              <a:rPr lang="es-ES" b="1" dirty="0">
                <a:solidFill>
                  <a:schemeClr val="lt1"/>
                </a:solidFill>
              </a:rPr>
            </a:br>
            <a:r>
              <a:rPr lang="es-ES" b="1" dirty="0">
                <a:solidFill>
                  <a:schemeClr val="lt1"/>
                </a:solidFill>
              </a:rPr>
              <a:t>		Paúl Sánchez</a:t>
            </a:r>
            <a:br>
              <a:rPr lang="es-ES" b="1" dirty="0">
                <a:solidFill>
                  <a:schemeClr val="lt1"/>
                </a:solidFill>
              </a:rPr>
            </a:br>
            <a:r>
              <a:rPr lang="es-ES" b="1" dirty="0">
                <a:solidFill>
                  <a:schemeClr val="lt1"/>
                </a:solidFill>
              </a:rPr>
              <a:t>		José Paulo Velastegui </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dirty="0">
                <a:solidFill>
                  <a:schemeClr val="lt1"/>
                </a:solidFill>
                <a:latin typeface="Gill Sans"/>
              </a:rPr>
              <a:t>14962</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15</a:t>
            </a:r>
            <a:r>
              <a:rPr lang="es-ES" sz="1600" b="0" i="0" u="none" strike="noStrike" cap="none" dirty="0">
                <a:solidFill>
                  <a:schemeClr val="lt1"/>
                </a:solidFill>
                <a:latin typeface="Gill Sans"/>
                <a:ea typeface="Gill Sans"/>
                <a:cs typeface="Gill Sans"/>
                <a:sym typeface="Gill Sans"/>
              </a:rPr>
              <a:t>/07/2024</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624325" y="1808081"/>
            <a:ext cx="8293914" cy="4649809"/>
            <a:chOff x="0" y="52173"/>
            <a:chExt cx="8269931" cy="3824461"/>
          </a:xfrm>
        </p:grpSpPr>
        <p:sp>
          <p:nvSpPr>
            <p:cNvPr id="113" name="Google Shape;113;p3"/>
            <p:cNvSpPr/>
            <p:nvPr/>
          </p:nvSpPr>
          <p:spPr>
            <a:xfrm>
              <a:off x="0" y="52173"/>
              <a:ext cx="8269800" cy="3824461"/>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33805" y="846009"/>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940705" y="148691"/>
              <a:ext cx="6995400" cy="3296584"/>
            </a:xfrm>
            <a:prstGeom prst="rect">
              <a:avLst/>
            </a:prstGeom>
            <a:noFill/>
            <a:ln>
              <a:noFill/>
            </a:ln>
          </p:spPr>
          <p:txBody>
            <a:bodyPr spcFirstLastPara="1" wrap="square" lIns="116775" tIns="116775" rIns="116775" bIns="116775" anchor="ctr" anchorCtr="0">
              <a:noAutofit/>
            </a:bodyPr>
            <a:lstStyle/>
            <a:p>
              <a:pPr marL="0" marR="0" lvl="0" indent="0" algn="just" rtl="0">
                <a:lnSpc>
                  <a:spcPct val="115000"/>
                </a:lnSpc>
                <a:spcBef>
                  <a:spcPts val="1200"/>
                </a:spcBef>
                <a:spcAft>
                  <a:spcPts val="0"/>
                </a:spcAft>
                <a:buClr>
                  <a:schemeClr val="dk1"/>
                </a:buClr>
                <a:buSzPts val="1100"/>
                <a:buFont typeface="Arial"/>
                <a:buNone/>
              </a:pPr>
              <a:endParaRPr lang="es-MX" sz="23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El objetivo de esta práctica es desarrollar un servicio web en Java que permita la conversión de unidades de longitud entre centímetros y pulgadas. </a:t>
              </a: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La práctica busca: </a:t>
              </a:r>
            </a:p>
            <a:p>
              <a:pPr marL="342900" marR="0" lvl="0" indent="-342900" algn="just" rtl="0">
                <a:lnSpc>
                  <a:spcPct val="115000"/>
                </a:lnSpc>
                <a:spcBef>
                  <a:spcPts val="1200"/>
                </a:spcBef>
                <a:spcAft>
                  <a:spcPts val="0"/>
                </a:spcAft>
                <a:buClr>
                  <a:schemeClr val="dk1"/>
                </a:buClr>
                <a:buSzPts val="1100"/>
                <a:buFont typeface="Arial" panose="020B0604020202020204" pitchFamily="34" charset="0"/>
                <a:buChar char="•"/>
              </a:pPr>
              <a:r>
                <a:rPr lang="es-MX" sz="2300" dirty="0">
                  <a:solidFill>
                    <a:schemeClr val="dk1"/>
                  </a:solidFill>
                  <a:latin typeface="Gill Sans"/>
                </a:rPr>
                <a:t>Implementar un servicio web que exponga métodos para convertir unidades de longitud.</a:t>
              </a:r>
            </a:p>
            <a:p>
              <a:pPr marL="342900" indent="-342900" algn="just">
                <a:lnSpc>
                  <a:spcPct val="115000"/>
                </a:lnSpc>
                <a:spcBef>
                  <a:spcPts val="1200"/>
                </a:spcBef>
                <a:buClr>
                  <a:schemeClr val="dk1"/>
                </a:buClr>
                <a:buSzPts val="1100"/>
                <a:buFont typeface="Arial" panose="020B0604020202020204" pitchFamily="34" charset="0"/>
                <a:buChar char="•"/>
              </a:pPr>
              <a:r>
                <a:rPr lang="es-MX" sz="2300" dirty="0">
                  <a:solidFill>
                    <a:schemeClr val="dk1"/>
                  </a:solidFill>
                  <a:latin typeface="Gill Sans"/>
                </a:rPr>
                <a:t>Utilizar la tecnología Java para crear, desplegar y consumir servicios web.</a:t>
              </a:r>
            </a:p>
            <a:p>
              <a:pPr marL="0" marR="0" lvl="0" indent="0" algn="just" rtl="0">
                <a:lnSpc>
                  <a:spcPct val="115000"/>
                </a:lnSpc>
                <a:spcBef>
                  <a:spcPts val="1200"/>
                </a:spcBef>
                <a:spcAft>
                  <a:spcPts val="0"/>
                </a:spcAft>
                <a:buClr>
                  <a:schemeClr val="dk1"/>
                </a:buClr>
                <a:buSzPts val="1100"/>
                <a:buFont typeface="Arial"/>
                <a:buNone/>
              </a:pPr>
              <a:endParaRPr sz="2300" b="0" i="0" u="none" strike="noStrike" cap="none" dirty="0">
                <a:solidFill>
                  <a:schemeClr val="dk1"/>
                </a:solidFill>
                <a:latin typeface="Gill Sans"/>
                <a:ea typeface="Gill Sans"/>
                <a:cs typeface="Gill Sans"/>
                <a:sym typeface="Gill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OBJETIVOS ESPECIFICOS</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581192" y="2081724"/>
            <a:ext cx="8337049" cy="4376166"/>
            <a:chOff x="-43008" y="597724"/>
            <a:chExt cx="8312941" cy="5380751"/>
          </a:xfrm>
        </p:grpSpPr>
        <p:sp>
          <p:nvSpPr>
            <p:cNvPr id="113" name="Google Shape;113;p3"/>
            <p:cNvSpPr/>
            <p:nvPr/>
          </p:nvSpPr>
          <p:spPr>
            <a:xfrm>
              <a:off x="-43008" y="1121588"/>
              <a:ext cx="8269800" cy="4856887"/>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64182" y="1950828"/>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274533" y="1701123"/>
              <a:ext cx="6995400" cy="4073905"/>
            </a:xfrm>
            <a:prstGeom prst="rect">
              <a:avLst/>
            </a:prstGeom>
            <a:noFill/>
            <a:ln>
              <a:noFill/>
            </a:ln>
          </p:spPr>
          <p:txBody>
            <a:bodyPr spcFirstLastPara="1" wrap="square" lIns="116775" tIns="116775" rIns="116775" bIns="11677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Estructurar el proyecto en paquetes lógicos (</a:t>
              </a:r>
              <a:r>
                <a:rPr lang="es-EC" altLang="es-EC" sz="1600" dirty="0" err="1">
                  <a:solidFill>
                    <a:schemeClr val="dk1"/>
                  </a:solidFill>
                  <a:latin typeface="Gill Sans"/>
                </a:rPr>
                <a:t>mvc</a:t>
              </a:r>
              <a:r>
                <a:rPr lang="es-EC" altLang="es-EC" sz="1600" dirty="0">
                  <a:solidFill>
                    <a:schemeClr val="dk1"/>
                  </a:solidFill>
                  <a:latin typeface="Gill Sans"/>
                </a:rPr>
                <a:t>) para mejorar la organización y mantenibilidad del código.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Aplicar principios de la programación orientada a objetos en la implementación de la lógica de negocio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Crear clases de prueba en el paquete prueba para verificar el correcto funcionamiento de los métodos de conversión.</a:t>
              </a:r>
            </a:p>
            <a:p>
              <a:pPr eaLnBrk="0" fontAlgn="base" hangingPunct="0">
                <a:spcBef>
                  <a:spcPct val="0"/>
                </a:spcBef>
                <a:spcAft>
                  <a:spcPct val="0"/>
                </a:spcAft>
                <a:buClrTx/>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Utilizar las clases de prueba para ejecutar pruebas y validar los resultados en la consola. </a:t>
              </a:r>
            </a:p>
            <a:p>
              <a:pPr marL="285750" lvl="0" indent="-285750" eaLnBrk="0" fontAlgn="base" hangingPunct="0">
                <a:spcBef>
                  <a:spcPct val="0"/>
                </a:spcBef>
                <a:spcAft>
                  <a:spcPct val="0"/>
                </a:spcAft>
                <a:buClrTx/>
                <a:buFont typeface="Arial" panose="020B0604020202020204" pitchFamily="34" charset="0"/>
                <a:buChar char="•"/>
              </a:pPr>
              <a:endParaRPr lang="es-MX" sz="16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endParaRPr lang="es-MX" sz="2300" b="0" i="0" u="none" strike="noStrike" cap="none" dirty="0">
                <a:solidFill>
                  <a:schemeClr val="dk1"/>
                </a:solidFill>
                <a:latin typeface="Gill Sans"/>
                <a:ea typeface="Gill Sans"/>
                <a:cs typeface="Gill Sans"/>
                <a:sym typeface="Gill Sans"/>
              </a:endParaRPr>
            </a:p>
          </p:txBody>
        </p:sp>
      </p:grpSp>
    </p:spTree>
    <p:extLst>
      <p:ext uri="{BB962C8B-B14F-4D97-AF65-F5344CB8AC3E}">
        <p14:creationId xmlns:p14="http://schemas.microsoft.com/office/powerpoint/2010/main" val="52016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36" name="Google Shape;136;p8"/>
          <p:cNvPicPr preferRelativeResize="0"/>
          <p:nvPr/>
        </p:nvPicPr>
        <p:blipFill>
          <a:blip r:embed="rId3">
            <a:alphaModFix/>
          </a:blip>
          <a:stretch>
            <a:fillRect/>
          </a:stretch>
        </p:blipFill>
        <p:spPr>
          <a:xfrm>
            <a:off x="3552825" y="2215731"/>
            <a:ext cx="5086350" cy="3638550"/>
          </a:xfrm>
          <a:prstGeom prst="rect">
            <a:avLst/>
          </a:prstGeom>
          <a:noFill/>
          <a:ln>
            <a:noFill/>
          </a:ln>
        </p:spPr>
      </p:pic>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Para empezar con la creación del web service con base de datos en java, se tendrá de que crear un proyecto de tipo “Web Aplication”. </a:t>
            </a:r>
            <a:endParaRPr>
              <a:solidFill>
                <a:schemeClr val="dk1"/>
              </a:solidFill>
            </a:endParaRPr>
          </a:p>
          <a:p>
            <a:pPr marL="457200" lvl="0" indent="0" algn="l" rtl="0">
              <a:lnSpc>
                <a:spcPct val="115000"/>
              </a:lnSpc>
              <a:spcBef>
                <a:spcPts val="0"/>
              </a:spcBef>
              <a:spcAft>
                <a:spcPts val="0"/>
              </a:spcAft>
              <a:buNone/>
            </a:pP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4928123" y="222741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El proyecto correrá en Payara Server con Java EE 7 Web para una compatibilidad correcta. </a:t>
            </a:r>
            <a:endParaRPr>
              <a:solidFill>
                <a:schemeClr val="dk1"/>
              </a:solidFill>
            </a:endParaRPr>
          </a:p>
          <a:p>
            <a:pPr marL="0" lvl="0" indent="0" algn="l" rtl="0">
              <a:lnSpc>
                <a:spcPct val="115000"/>
              </a:lnSpc>
              <a:spcBef>
                <a:spcPts val="1200"/>
              </a:spcBef>
              <a:spcAft>
                <a:spcPts val="0"/>
              </a:spcAft>
              <a:buClr>
                <a:schemeClr val="dk1"/>
              </a:buClr>
              <a:buSzPts val="1656"/>
              <a:buNone/>
            </a:pPr>
            <a:r>
              <a:rPr lang="es-ES">
                <a:solidFill>
                  <a:schemeClr val="dk1"/>
                </a:solidFill>
              </a:rPr>
              <a:t> </a:t>
            </a: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58" name="Google Shape;158;g2524d66b2ad_0_10" descr="Interfaz de usuario gráfica, Texto, Aplicación&#10;&#10;Descripción generada automáticamente"/>
          <p:cNvPicPr preferRelativeResize="0"/>
          <p:nvPr/>
        </p:nvPicPr>
        <p:blipFill>
          <a:blip r:embed="rId3">
            <a:alphaModFix/>
          </a:blip>
          <a:stretch>
            <a:fillRect/>
          </a:stretch>
        </p:blipFill>
        <p:spPr>
          <a:xfrm>
            <a:off x="789751" y="4157853"/>
            <a:ext cx="3699900" cy="2575625"/>
          </a:xfrm>
          <a:prstGeom prst="rect">
            <a:avLst/>
          </a:prstGeom>
          <a:noFill/>
          <a:ln>
            <a:noFill/>
          </a:ln>
        </p:spPr>
      </p:pic>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61BF90E4-2C39-3FFD-D3D0-6EA62B4BB893}"/>
              </a:ext>
            </a:extLst>
          </p:cNvPr>
          <p:cNvPicPr>
            <a:picLocks noChangeAspect="1"/>
          </p:cNvPicPr>
          <p:nvPr/>
        </p:nvPicPr>
        <p:blipFill>
          <a:blip r:embed="rId4"/>
          <a:stretch>
            <a:fillRect/>
          </a:stretch>
        </p:blipFill>
        <p:spPr>
          <a:xfrm>
            <a:off x="1012710" y="1897936"/>
            <a:ext cx="3038469" cy="203238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524d66b2ad_0_22"/>
          <p:cNvSpPr txBox="1">
            <a:spLocks noGrp="1"/>
          </p:cNvSpPr>
          <p:nvPr>
            <p:ph type="body" idx="1"/>
          </p:nvPr>
        </p:nvSpPr>
        <p:spPr>
          <a:xfrm>
            <a:off x="397608" y="2126657"/>
            <a:ext cx="3312300" cy="440010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MX" dirty="0">
                <a:solidFill>
                  <a:schemeClr val="dk1"/>
                </a:solidFill>
              </a:rPr>
              <a:t>Una vez seleccionada la opción de Java Package, se le dará el nombre de la capa deseada como se indicó anteriormente. En este caso se crearán las capas de modelo, pruebas, servicios y web services y luego se procede a la codificacion.</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165" name="Google Shape;165;g2524d66b2ad_0_22"/>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66" name="Google Shape;166;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67" name="Google Shape;167;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70" name="Google Shape;170;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2D423EF-12D3-125D-3074-55772CB38033}"/>
              </a:ext>
            </a:extLst>
          </p:cNvPr>
          <p:cNvPicPr>
            <a:picLocks noChangeAspect="1"/>
          </p:cNvPicPr>
          <p:nvPr/>
        </p:nvPicPr>
        <p:blipFill>
          <a:blip r:embed="rId3"/>
          <a:stretch>
            <a:fillRect/>
          </a:stretch>
        </p:blipFill>
        <p:spPr>
          <a:xfrm>
            <a:off x="3961911" y="3429000"/>
            <a:ext cx="4727575" cy="154686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r>
              <a:rPr lang="es-EC" dirty="0"/>
              <a:t>Realizado el servidor se avanza a la aplicación cliente, para ello se crea un nuevo proyecto de tipo Java </a:t>
            </a:r>
            <a:r>
              <a:rPr lang="es-EC" dirty="0" err="1"/>
              <a:t>Application</a:t>
            </a:r>
            <a:r>
              <a:rPr lang="es-EC" dirty="0"/>
              <a:t> llamado </a:t>
            </a:r>
            <a:r>
              <a:rPr lang="es-EC" dirty="0" err="1"/>
              <a:t>WSConvUniSoapClient</a:t>
            </a:r>
            <a:r>
              <a:rPr lang="es-EC" dirty="0"/>
              <a:t>.</a:t>
            </a: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0" name="Imagen 9">
            <a:extLst>
              <a:ext uri="{FF2B5EF4-FFF2-40B4-BE49-F238E27FC236}">
                <a16:creationId xmlns:a16="http://schemas.microsoft.com/office/drawing/2014/main" id="{33C632A7-5EF7-4B69-8AC7-696D39415E8A}"/>
              </a:ext>
            </a:extLst>
          </p:cNvPr>
          <p:cNvPicPr/>
          <p:nvPr/>
        </p:nvPicPr>
        <p:blipFill>
          <a:blip r:embed="rId3"/>
          <a:stretch>
            <a:fillRect/>
          </a:stretch>
        </p:blipFill>
        <p:spPr>
          <a:xfrm>
            <a:off x="5181600" y="2438399"/>
            <a:ext cx="2946400" cy="3467947"/>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3312300" cy="4400100"/>
          </a:xfrm>
          <a:prstGeom prst="rect">
            <a:avLst/>
          </a:prstGeom>
          <a:noFill/>
          <a:ln>
            <a:noFill/>
          </a:ln>
        </p:spPr>
        <p:txBody>
          <a:bodyPr spcFirstLastPara="1" wrap="square" lIns="91425" tIns="45700" rIns="91425" bIns="45700" anchor="ctr" anchorCtr="0">
            <a:normAutofit fontScale="92500" lnSpcReduction="10000"/>
          </a:bodyPr>
          <a:lstStyle/>
          <a:p>
            <a:pPr marL="306000" lvl="0" indent="0" algn="l" rtl="0">
              <a:lnSpc>
                <a:spcPct val="115000"/>
              </a:lnSpc>
              <a:spcBef>
                <a:spcPts val="1200"/>
              </a:spcBef>
              <a:spcAft>
                <a:spcPts val="0"/>
              </a:spcAft>
              <a:buSzPct val="108235"/>
              <a:buNone/>
            </a:pPr>
            <a:r>
              <a:rPr lang="es-MX">
                <a:solidFill>
                  <a:schemeClr val="dk1"/>
                </a:solidFill>
              </a:rPr>
              <a:t>Después de la creación de la aplicación, el paso inicial implica la generación del cliente del servicio web. Para hacerlo, se hace clic derecho en la aplicación recién creada y se selecciona la opción "Web Service Client". Durante la configuración del cliente del servicio web, se empleará la URL del WSDL para consumir los servicios web del proyecto servidor, y se especificará que el paquete de destino sea "ec.edu.monster.ws".</a:t>
            </a:r>
            <a:endParaRPr>
              <a:solidFill>
                <a:schemeClr val="dk1"/>
              </a:solidFill>
            </a:endParaRPr>
          </a:p>
          <a:p>
            <a:pPr marL="306000" lvl="0" indent="0" algn="just" rtl="0">
              <a:lnSpc>
                <a:spcPct val="115000"/>
              </a:lnSpc>
              <a:spcBef>
                <a:spcPts val="1200"/>
              </a:spcBef>
              <a:spcAft>
                <a:spcPts val="1200"/>
              </a:spcAft>
              <a:buSzPct val="108235"/>
              <a:buNone/>
            </a:pPr>
            <a:endParaRPr>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253BA09-379B-4E92-AB2C-E24C0CBC191D}"/>
              </a:ext>
            </a:extLst>
          </p:cNvPr>
          <p:cNvPicPr/>
          <p:nvPr/>
        </p:nvPicPr>
        <p:blipFill>
          <a:blip r:embed="rId3"/>
          <a:stretch>
            <a:fillRect/>
          </a:stretch>
        </p:blipFill>
        <p:spPr>
          <a:xfrm>
            <a:off x="4043044" y="2228849"/>
            <a:ext cx="4694555" cy="365040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g2524d66b2ad_0_275"/>
          <p:cNvSpPr txBox="1">
            <a:spLocks noGrp="1"/>
          </p:cNvSpPr>
          <p:nvPr>
            <p:ph type="body" idx="1"/>
          </p:nvPr>
        </p:nvSpPr>
        <p:spPr>
          <a:xfrm>
            <a:off x="671455" y="2603043"/>
            <a:ext cx="3312300" cy="370293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ES" dirty="0">
                <a:solidFill>
                  <a:schemeClr val="dk1"/>
                </a:solidFill>
              </a:rPr>
              <a:t>Al darle a finalizar, empezará una descarga de JAX-WS por lo que se debe esperar a que termine, para que la conexión esté hecha con éxito. Al terminar la descarga, se generará una carpeta y el proyecto debe quedar de la siguiente manera: </a:t>
            </a:r>
            <a:endParaRPr dirty="0">
              <a:solidFill>
                <a:schemeClr val="dk1"/>
              </a:solidFill>
            </a:endParaRPr>
          </a:p>
          <a:p>
            <a:pPr marL="306000" lvl="0" indent="0" algn="l" rtl="0">
              <a:lnSpc>
                <a:spcPct val="115000"/>
              </a:lnSpc>
              <a:spcBef>
                <a:spcPts val="1200"/>
              </a:spcBef>
              <a:spcAft>
                <a:spcPts val="0"/>
              </a:spcAft>
              <a:buSzPct val="108235"/>
              <a:buNone/>
            </a:pP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361" name="Google Shape;361;g2524d66b2ad_0_27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62" name="Google Shape;362;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3" name="Google Shape;363;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66" name="Google Shape;366;g2524d66b2ad_0_27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9" name="Imagen 8">
            <a:extLst>
              <a:ext uri="{FF2B5EF4-FFF2-40B4-BE49-F238E27FC236}">
                <a16:creationId xmlns:a16="http://schemas.microsoft.com/office/drawing/2014/main" id="{51F41C63-1E4E-441B-A113-15DDF8780978}"/>
              </a:ext>
            </a:extLst>
          </p:cNvPr>
          <p:cNvPicPr/>
          <p:nvPr/>
        </p:nvPicPr>
        <p:blipFill>
          <a:blip r:embed="rId3"/>
          <a:stretch>
            <a:fillRect/>
          </a:stretch>
        </p:blipFill>
        <p:spPr>
          <a:xfrm>
            <a:off x="4704502" y="2382308"/>
            <a:ext cx="3312299" cy="3347932"/>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Al mismo tiempo se creará un formulario (JFrame </a:t>
            </a:r>
            <a:r>
              <a:rPr lang="es-MX" dirty="0" err="1">
                <a:solidFill>
                  <a:schemeClr val="dk1"/>
                </a:solidFill>
              </a:rPr>
              <a:t>Form</a:t>
            </a:r>
            <a:r>
              <a:rPr lang="es-MX" dirty="0">
                <a:solidFill>
                  <a:schemeClr val="dk1"/>
                </a:solidFill>
              </a:rPr>
              <a:t>)  para </a:t>
            </a:r>
            <a:r>
              <a:rPr lang="es-EC" dirty="0">
                <a:solidFill>
                  <a:schemeClr val="dk1"/>
                </a:solidFill>
              </a:rPr>
              <a:t>el Inicio de Sesión</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45AFFAA9-E378-44E5-B21C-96A4801493B6}"/>
              </a:ext>
            </a:extLst>
          </p:cNvPr>
          <p:cNvPicPr/>
          <p:nvPr/>
        </p:nvPicPr>
        <p:blipFill>
          <a:blip r:embed="rId3"/>
          <a:stretch>
            <a:fillRect/>
          </a:stretch>
        </p:blipFill>
        <p:spPr>
          <a:xfrm>
            <a:off x="4534957" y="2385438"/>
            <a:ext cx="3457575" cy="3459948"/>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(JFrame </a:t>
            </a:r>
            <a:r>
              <a:rPr lang="es-MX" dirty="0" err="1">
                <a:solidFill>
                  <a:schemeClr val="dk1"/>
                </a:solidFill>
              </a:rPr>
              <a:t>Form</a:t>
            </a:r>
            <a:r>
              <a:rPr lang="es-MX" dirty="0">
                <a:solidFill>
                  <a:schemeClr val="dk1"/>
                </a:solidFill>
              </a:rPr>
              <a:t>)  </a:t>
            </a:r>
            <a:r>
              <a:rPr lang="es-EC" dirty="0">
                <a:solidFill>
                  <a:schemeClr val="dk1"/>
                </a:solidFill>
              </a:rPr>
              <a:t>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9" name="Imagen 8">
            <a:extLst>
              <a:ext uri="{FF2B5EF4-FFF2-40B4-BE49-F238E27FC236}">
                <a16:creationId xmlns:a16="http://schemas.microsoft.com/office/drawing/2014/main" id="{3DE53950-C3C8-436F-8B93-CBDECFC1B8FD}"/>
              </a:ext>
            </a:extLst>
          </p:cNvPr>
          <p:cNvPicPr/>
          <p:nvPr/>
        </p:nvPicPr>
        <p:blipFill>
          <a:blip r:embed="rId3"/>
          <a:stretch>
            <a:fillRect/>
          </a:stretch>
        </p:blipFill>
        <p:spPr>
          <a:xfrm>
            <a:off x="4114376" y="2468986"/>
            <a:ext cx="4112260" cy="335597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664165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0" name="Imagen 9">
            <a:extLst>
              <a:ext uri="{FF2B5EF4-FFF2-40B4-BE49-F238E27FC236}">
                <a16:creationId xmlns:a16="http://schemas.microsoft.com/office/drawing/2014/main" id="{08A14BF4-F875-420D-9C69-85F16EC346D9}"/>
              </a:ext>
            </a:extLst>
          </p:cNvPr>
          <p:cNvPicPr/>
          <p:nvPr/>
        </p:nvPicPr>
        <p:blipFill>
          <a:blip r:embed="rId3"/>
          <a:stretch>
            <a:fillRect/>
          </a:stretch>
        </p:blipFill>
        <p:spPr>
          <a:xfrm>
            <a:off x="3149649" y="2218412"/>
            <a:ext cx="3156325" cy="1678756"/>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9E02E913-8741-4690-BEE2-367EA4FD8362}"/>
              </a:ext>
            </a:extLst>
          </p:cNvPr>
          <p:cNvPicPr/>
          <p:nvPr/>
        </p:nvPicPr>
        <p:blipFill rotWithShape="1">
          <a:blip r:embed="rId4"/>
          <a:srcRect b="7514"/>
          <a:stretch/>
        </p:blipFill>
        <p:spPr bwMode="auto">
          <a:xfrm>
            <a:off x="3088180" y="4216680"/>
            <a:ext cx="3271979" cy="194782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a:extLst>
            <a:ext uri="{53640926-AAD7-44D8-BBD7-CCE9431645EC}">
              <a14:shadowObscured xmlns:a14="http://schemas.microsoft.com/office/drawing/2010/main"/>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509" name="Google Shape;509;g2524d66b2ad_0_451"/>
          <p:cNvPicPr preferRelativeResize="0"/>
          <p:nvPr/>
        </p:nvPicPr>
        <p:blipFill>
          <a:blip r:embed="rId3">
            <a:alphaModFix/>
          </a:blip>
          <a:stretch>
            <a:fillRect/>
          </a:stretch>
        </p:blipFill>
        <p:spPr>
          <a:xfrm>
            <a:off x="2391225" y="2447100"/>
            <a:ext cx="4981450" cy="3666650"/>
          </a:xfrm>
          <a:prstGeom prst="rect">
            <a:avLst/>
          </a:prstGeom>
          <a:noFill/>
          <a:ln>
            <a:noFill/>
          </a:ln>
        </p:spPr>
      </p:pic>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7973183"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dirty="0"/>
          </a:p>
          <a:p>
            <a:pPr marL="0" lvl="0" indent="0" algn="l" rtl="0">
              <a:lnSpc>
                <a:spcPct val="100000"/>
              </a:lnSpc>
              <a:spcBef>
                <a:spcPts val="0"/>
              </a:spcBef>
              <a:spcAft>
                <a:spcPts val="0"/>
              </a:spcAft>
              <a:buClr>
                <a:schemeClr val="lt1"/>
              </a:buClr>
              <a:buSzPct val="100000"/>
              <a:buFont typeface="Gill Sans"/>
              <a:buNone/>
            </a:pPr>
            <a:r>
              <a:rPr lang="es-ES" dirty="0"/>
              <a:t>2.4</a:t>
            </a:r>
            <a:r>
              <a:rPr lang="es-MX" dirty="0"/>
              <a:t>.	CREACIÓN DEL CLIENTE EN APLICACIÓN DE WEB</a:t>
            </a:r>
            <a:endParaRPr dirty="0"/>
          </a:p>
          <a:p>
            <a:pPr marL="0" lvl="0" indent="0" algn="l" rtl="0">
              <a:lnSpc>
                <a:spcPct val="100000"/>
              </a:lnSpc>
              <a:spcBef>
                <a:spcPts val="0"/>
              </a:spcBef>
              <a:spcAft>
                <a:spcPts val="0"/>
              </a:spcAft>
              <a:buClr>
                <a:schemeClr val="lt1"/>
              </a:buClr>
              <a:buSzPct val="100000"/>
              <a:buFont typeface="Gill Sans"/>
              <a:buNone/>
            </a:pPr>
            <a:endParaRPr dirty="0"/>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949973"/>
          </a:xfrm>
          <a:prstGeom prst="rect">
            <a:avLst/>
          </a:prstGeom>
          <a:noFill/>
          <a:ln>
            <a:noFill/>
          </a:ln>
        </p:spPr>
        <p:txBody>
          <a:bodyPr spcFirstLastPara="1" wrap="square" lIns="91425" tIns="91425" rIns="91425" bIns="91425" anchor="t" anchorCtr="0">
            <a:spAutoFit/>
          </a:bodyPr>
          <a:lstStyle/>
          <a:p>
            <a:pPr>
              <a:lnSpc>
                <a:spcPct val="115000"/>
              </a:lnSpc>
              <a:spcAft>
                <a:spcPts val="1000"/>
              </a:spcAft>
            </a:pPr>
            <a:r>
              <a:rPr lang="es-ES" sz="1800" dirty="0">
                <a:solidFill>
                  <a:schemeClr val="tx1"/>
                </a:solidFill>
                <a:latin typeface="Gill Sans"/>
              </a:rPr>
              <a:t>Se crean los paquetes orientados a una arquitectura MVC con una capa extra de </a:t>
            </a:r>
            <a:r>
              <a:rPr lang="es-ES" sz="1800" dirty="0" err="1">
                <a:solidFill>
                  <a:schemeClr val="tx1"/>
                </a:solidFill>
                <a:latin typeface="Gill Sans"/>
              </a:rPr>
              <a:t>servlets</a:t>
            </a:r>
            <a:r>
              <a:rPr lang="es-ES" sz="1800" dirty="0">
                <a:solidFill>
                  <a:schemeClr val="tx1"/>
                </a:solidFill>
                <a:latin typeface="Gill Sans"/>
              </a:rPr>
              <a:t> y </a:t>
            </a:r>
            <a:r>
              <a:rPr lang="es-ES" sz="1800" dirty="0" err="1">
                <a:solidFill>
                  <a:schemeClr val="tx1"/>
                </a:solidFill>
                <a:latin typeface="Gill Sans"/>
              </a:rPr>
              <a:t>jsp</a:t>
            </a:r>
            <a:r>
              <a:rPr lang="es-ES" sz="1800" dirty="0">
                <a:solidFill>
                  <a:schemeClr val="tx1"/>
                </a:solidFill>
                <a:latin typeface="Gill Sans"/>
              </a:rPr>
              <a:t> en las vistas</a:t>
            </a:r>
            <a:endParaRPr lang="es-EC" sz="1800" dirty="0">
              <a:solidFill>
                <a:schemeClr val="tx1"/>
              </a:solidFill>
              <a:latin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07DC1195-E9F4-4B0C-8406-97B740CAA8FE}"/>
              </a:ext>
            </a:extLst>
          </p:cNvPr>
          <p:cNvPicPr>
            <a:picLocks noChangeAspect="1"/>
          </p:cNvPicPr>
          <p:nvPr/>
        </p:nvPicPr>
        <p:blipFill>
          <a:blip r:embed="rId3"/>
          <a:stretch>
            <a:fillRect/>
          </a:stretch>
        </p:blipFill>
        <p:spPr>
          <a:xfrm>
            <a:off x="3347253" y="2848873"/>
            <a:ext cx="2907905" cy="3229771"/>
          </a:xfrm>
          <a:prstGeom prst="rect">
            <a:avLst/>
          </a:prstGeom>
        </p:spPr>
      </p:pic>
    </p:spTree>
    <p:extLst>
      <p:ext uri="{BB962C8B-B14F-4D97-AF65-F5344CB8AC3E}">
        <p14:creationId xmlns:p14="http://schemas.microsoft.com/office/powerpoint/2010/main" val="21052231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B01A9B7C-5037-483B-8A85-CF896C2A8448}"/>
              </a:ext>
            </a:extLst>
          </p:cNvPr>
          <p:cNvPicPr/>
          <p:nvPr/>
        </p:nvPicPr>
        <p:blipFill>
          <a:blip r:embed="rId3"/>
          <a:stretch>
            <a:fillRect/>
          </a:stretch>
        </p:blipFill>
        <p:spPr>
          <a:xfrm>
            <a:off x="2470785" y="2712843"/>
            <a:ext cx="4170170" cy="3365801"/>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10" name="Imagen 9">
            <a:extLst>
              <a:ext uri="{FF2B5EF4-FFF2-40B4-BE49-F238E27FC236}">
                <a16:creationId xmlns:a16="http://schemas.microsoft.com/office/drawing/2014/main" id="{45981D93-438B-4376-88A8-568FC99FE9CD}"/>
              </a:ext>
            </a:extLst>
          </p:cNvPr>
          <p:cNvPicPr/>
          <p:nvPr/>
        </p:nvPicPr>
        <p:blipFill>
          <a:blip r:embed="rId3"/>
          <a:stretch>
            <a:fillRect/>
          </a:stretch>
        </p:blipFill>
        <p:spPr>
          <a:xfrm>
            <a:off x="581192" y="2117724"/>
            <a:ext cx="3425825" cy="4038119"/>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C0A19A53-9E2D-4C90-845A-3D3D85E93AF8}"/>
              </a:ext>
            </a:extLst>
          </p:cNvPr>
          <p:cNvPicPr/>
          <p:nvPr/>
        </p:nvPicPr>
        <p:blipFill>
          <a:blip r:embed="rId4"/>
          <a:stretch>
            <a:fillRect/>
          </a:stretch>
        </p:blipFill>
        <p:spPr>
          <a:xfrm>
            <a:off x="4436427" y="2072322"/>
            <a:ext cx="4140948" cy="408352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23293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9" name="Imagen 8">
            <a:extLst>
              <a:ext uri="{FF2B5EF4-FFF2-40B4-BE49-F238E27FC236}">
                <a16:creationId xmlns:a16="http://schemas.microsoft.com/office/drawing/2014/main" id="{32579D67-D892-4995-A7A8-36C1AFFC8F4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550075" y="2051292"/>
            <a:ext cx="2821968" cy="4517285"/>
          </a:xfrm>
          <a:prstGeom prst="rect">
            <a:avLst/>
          </a:prstGeom>
          <a:ln w="88900" cap="sq" cmpd="thickThin">
            <a:solidFill>
              <a:srgbClr val="000000"/>
            </a:solidFill>
            <a:prstDash val="solid"/>
            <a:miter lim="800000"/>
          </a:ln>
          <a:effectLst>
            <a:innerShdw blurRad="76200">
              <a:srgbClr val="000000"/>
            </a:innerShdw>
          </a:effectLst>
        </p:spPr>
      </p:pic>
      <p:pic>
        <p:nvPicPr>
          <p:cNvPr id="10" name="Imagen 9">
            <a:extLst>
              <a:ext uri="{FF2B5EF4-FFF2-40B4-BE49-F238E27FC236}">
                <a16:creationId xmlns:a16="http://schemas.microsoft.com/office/drawing/2014/main" id="{6CECDAA0-6908-4528-BF8C-E628AFB9EDA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323109" y="2051292"/>
            <a:ext cx="2906491" cy="4400099"/>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a los estudiantes desarrollar un servicio web básico en Java, utilizando tecnologías estándar como JAX-WS. Esto les proporcionó una comprensión práctica de cómo exponer métodos de conversión de unidades a través de un servicio web accesible.</a:t>
            </a:r>
          </a:p>
          <a:p>
            <a:pPr indent="-325869">
              <a:lnSpc>
                <a:spcPct val="110000"/>
              </a:lnSpc>
              <a:spcBef>
                <a:spcPts val="960"/>
              </a:spcBef>
              <a:buClr>
                <a:schemeClr val="dk1"/>
              </a:buClr>
              <a:buSzPct val="91999"/>
            </a:pPr>
            <a:r>
              <a:rPr lang="es-EC" altLang="es-EC" dirty="0"/>
              <a:t>La correcta estructuración del proyecto en paquetes (prueba, servicio, </a:t>
            </a:r>
            <a:r>
              <a:rPr lang="es-EC" altLang="es-EC" dirty="0" err="1"/>
              <a:t>ws</a:t>
            </a:r>
            <a:r>
              <a:rPr lang="es-EC" altLang="es-EC" dirty="0"/>
              <a:t>) mejoró la organización y mantenibilidad del código. Este enfoque modular facilita futuras modificaciones y extensiones del sistema. </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Deitel</a:t>
            </a:r>
            <a:r>
              <a:rPr lang="es-EC" altLang="es-EC" dirty="0">
                <a:latin typeface="Times New Roman" panose="02020603050405020304" pitchFamily="18" charset="0"/>
                <a:ea typeface="Calibri" panose="020F0502020204030204" pitchFamily="34" charset="0"/>
                <a:cs typeface="Arial" panose="020B0604020202020204" pitchFamily="34" charset="0"/>
              </a:rPr>
              <a:t>, P., &amp; </a:t>
            </a:r>
            <a:r>
              <a:rPr lang="es-EC" altLang="es-EC" dirty="0" err="1">
                <a:latin typeface="Times New Roman" panose="02020603050405020304" pitchFamily="18" charset="0"/>
                <a:ea typeface="Calibri" panose="020F0502020204030204" pitchFamily="34" charset="0"/>
                <a:cs typeface="Arial" panose="020B0604020202020204" pitchFamily="34" charset="0"/>
              </a:rPr>
              <a:t>Deitel</a:t>
            </a:r>
            <a:r>
              <a:rPr lang="es-EC" altLang="es-EC" dirty="0">
                <a:latin typeface="Times New Roman" panose="02020603050405020304" pitchFamily="18" charset="0"/>
                <a:ea typeface="Calibri" panose="020F0502020204030204" pitchFamily="34" charset="0"/>
                <a:cs typeface="Arial" panose="020B0604020202020204" pitchFamily="34" charset="0"/>
              </a:rPr>
              <a:t>, H. (2017). Java </a:t>
            </a:r>
            <a:r>
              <a:rPr lang="es-EC" altLang="es-EC" dirty="0" err="1">
                <a:latin typeface="Times New Roman" panose="02020603050405020304" pitchFamily="18" charset="0"/>
                <a:ea typeface="Calibri" panose="020F0502020204030204" pitchFamily="34" charset="0"/>
                <a:cs typeface="Arial" panose="020B0604020202020204" pitchFamily="34" charset="0"/>
              </a:rPr>
              <a:t>How</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to</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Program</a:t>
            </a:r>
            <a:r>
              <a:rPr lang="es-EC" altLang="es-EC" dirty="0">
                <a:latin typeface="Times New Roman" panose="02020603050405020304" pitchFamily="18" charset="0"/>
                <a:ea typeface="Calibri" panose="020F0502020204030204" pitchFamily="34" charset="0"/>
                <a:cs typeface="Arial" panose="020B0604020202020204" pitchFamily="34" charset="0"/>
              </a:rPr>
              <a:t> (Late </a:t>
            </a:r>
            <a:r>
              <a:rPr lang="es-EC" altLang="es-EC" dirty="0" err="1">
                <a:latin typeface="Times New Roman" panose="02020603050405020304" pitchFamily="18" charset="0"/>
                <a:ea typeface="Calibri" panose="020F0502020204030204" pitchFamily="34" charset="0"/>
                <a:cs typeface="Arial" panose="020B0604020202020204" pitchFamily="34" charset="0"/>
              </a:rPr>
              <a:t>Objects</a:t>
            </a:r>
            <a:r>
              <a:rPr lang="es-EC" altLang="es-EC" dirty="0">
                <a:latin typeface="Times New Roman" panose="02020603050405020304" pitchFamily="18" charset="0"/>
                <a:ea typeface="Calibri" panose="020F0502020204030204" pitchFamily="34" charset="0"/>
                <a:cs typeface="Arial" panose="020B0604020202020204" pitchFamily="34" charset="0"/>
              </a:rPr>
              <a:t>) (11th ed.). Pearson.</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Oracle. (</a:t>
            </a:r>
            <a:r>
              <a:rPr lang="es-EC" altLang="es-EC" dirty="0" err="1">
                <a:latin typeface="Times New Roman" panose="02020603050405020304" pitchFamily="18" charset="0"/>
                <a:ea typeface="Calibri" panose="020F0502020204030204" pitchFamily="34" charset="0"/>
                <a:cs typeface="Arial" panose="020B0604020202020204" pitchFamily="34" charset="0"/>
              </a:rPr>
              <a:t>n.d</a:t>
            </a:r>
            <a:r>
              <a:rPr lang="es-EC" altLang="es-EC" dirty="0">
                <a:latin typeface="Times New Roman" panose="02020603050405020304" pitchFamily="18" charset="0"/>
                <a:ea typeface="Calibri" panose="020F0502020204030204" pitchFamily="34" charset="0"/>
                <a:cs typeface="Arial" panose="020B0604020202020204" pitchFamily="34" charset="0"/>
              </a:rPr>
              <a:t>.). Java </a:t>
            </a:r>
            <a:r>
              <a:rPr lang="es-EC" altLang="es-EC" dirty="0" err="1">
                <a:latin typeface="Times New Roman" panose="02020603050405020304" pitchFamily="18" charset="0"/>
                <a:ea typeface="Calibri" panose="020F0502020204030204" pitchFamily="34" charset="0"/>
                <a:cs typeface="Arial" panose="020B0604020202020204" pitchFamily="34" charset="0"/>
              </a:rPr>
              <a:t>Platform</a:t>
            </a:r>
            <a:r>
              <a:rPr lang="es-EC" altLang="es-EC" dirty="0">
                <a:latin typeface="Times New Roman" panose="02020603050405020304" pitchFamily="18" charset="0"/>
                <a:ea typeface="Calibri" panose="020F0502020204030204" pitchFamily="34" charset="0"/>
                <a:cs typeface="Arial" panose="020B0604020202020204" pitchFamily="34" charset="0"/>
              </a:rPr>
              <a:t>, Enterprise </a:t>
            </a:r>
            <a:r>
              <a:rPr lang="es-EC" altLang="es-EC" dirty="0" err="1">
                <a:latin typeface="Times New Roman" panose="02020603050405020304" pitchFamily="18" charset="0"/>
                <a:ea typeface="Calibri" panose="020F0502020204030204" pitchFamily="34" charset="0"/>
                <a:cs typeface="Arial" panose="020B0604020202020204" pitchFamily="34" charset="0"/>
              </a:rPr>
              <a:t>Edition</a:t>
            </a:r>
            <a:r>
              <a:rPr lang="es-EC" altLang="es-EC" dirty="0">
                <a:latin typeface="Times New Roman" panose="02020603050405020304" pitchFamily="18" charset="0"/>
                <a:ea typeface="Calibri" panose="020F0502020204030204" pitchFamily="34" charset="0"/>
                <a:cs typeface="Arial" panose="020B0604020202020204" pitchFamily="34" charset="0"/>
              </a:rPr>
              <a:t> (Java EE). Recuperado de </a:t>
            </a:r>
            <a:r>
              <a:rPr lang="es-EC" altLang="es-EC" dirty="0">
                <a:latin typeface="Times New Roman" panose="02020603050405020304" pitchFamily="18"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https://www.oracle.com/java/technologies/java-ee-glance.html</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a:t>
            </a:r>
            <a:r>
              <a:rPr lang="es-EC" altLang="es-EC" dirty="0" err="1">
                <a:latin typeface="Times New Roman" panose="02020603050405020304" pitchFamily="18" charset="0"/>
                <a:ea typeface="Calibri" panose="020F0502020204030204" pitchFamily="34" charset="0"/>
                <a:cs typeface="Arial" panose="020B0604020202020204" pitchFamily="34" charset="0"/>
              </a:rPr>
              <a:t>Maxim</a:t>
            </a:r>
            <a:r>
              <a:rPr lang="es-EC" altLang="es-EC" dirty="0">
                <a:latin typeface="Times New Roman" panose="02020603050405020304" pitchFamily="18" charset="0"/>
                <a:ea typeface="Calibri" panose="020F0502020204030204" pitchFamily="34" charset="0"/>
                <a:cs typeface="Arial" panose="020B0604020202020204" pitchFamily="34" charset="0"/>
              </a:rPr>
              <a:t>, B. R. (2019). Software </a:t>
            </a:r>
            <a:r>
              <a:rPr lang="es-EC" altLang="es-EC" dirty="0" err="1">
                <a:latin typeface="Times New Roman" panose="02020603050405020304" pitchFamily="18" charset="0"/>
                <a:ea typeface="Calibri" panose="020F0502020204030204" pitchFamily="34" charset="0"/>
                <a:cs typeface="Arial" panose="020B0604020202020204" pitchFamily="34" charset="0"/>
              </a:rPr>
              <a:t>Engineering</a:t>
            </a:r>
            <a:r>
              <a:rPr lang="es-EC" altLang="es-EC" dirty="0">
                <a:latin typeface="Times New Roman" panose="02020603050405020304" pitchFamily="18" charset="0"/>
                <a:ea typeface="Calibri" panose="020F0502020204030204" pitchFamily="34" charset="0"/>
                <a:cs typeface="Arial" panose="020B0604020202020204" pitchFamily="34" charset="0"/>
              </a:rPr>
              <a:t>: A </a:t>
            </a:r>
            <a:r>
              <a:rPr lang="es-EC" altLang="es-EC" dirty="0" err="1">
                <a:latin typeface="Times New Roman" panose="02020603050405020304" pitchFamily="18" charset="0"/>
                <a:ea typeface="Calibri" panose="020F0502020204030204" pitchFamily="34" charset="0"/>
                <a:cs typeface="Arial" panose="020B0604020202020204" pitchFamily="34" charset="0"/>
              </a:rPr>
              <a:t>Practitioner's</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Approach</a:t>
            </a:r>
            <a:r>
              <a:rPr lang="es-EC" altLang="es-EC" dirty="0">
                <a:latin typeface="Times New Roman" panose="02020603050405020304" pitchFamily="18" charset="0"/>
                <a:ea typeface="Calibri" panose="020F0502020204030204" pitchFamily="34" charset="0"/>
                <a:cs typeface="Arial" panose="020B0604020202020204" pitchFamily="34" charset="0"/>
              </a:rPr>
              <a:t> (9th ed.). McGraw-Hill </a:t>
            </a:r>
            <a:r>
              <a:rPr lang="es-EC" altLang="es-EC" dirty="0" err="1">
                <a:latin typeface="Times New Roman" panose="02020603050405020304" pitchFamily="18" charset="0"/>
                <a:ea typeface="Calibri" panose="020F0502020204030204" pitchFamily="34" charset="0"/>
                <a:cs typeface="Arial" panose="020B0604020202020204" pitchFamily="34" charset="0"/>
              </a:rPr>
              <a:t>Education</a:t>
            </a:r>
            <a:r>
              <a:rPr lang="es-EC" altLang="es-EC" dirty="0">
                <a:latin typeface="Times New Roman" panose="02020603050405020304" pitchFamily="18" charset="0"/>
                <a:ea typeface="Calibri" panose="020F0502020204030204" pitchFamily="34" charset="0"/>
                <a:cs typeface="Arial" panose="020B0604020202020204" pitchFamily="34" charset="0"/>
              </a:rPr>
              <a:t>.</a:t>
            </a: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Eckel</a:t>
            </a:r>
            <a:r>
              <a:rPr lang="es-EC" altLang="es-EC" dirty="0">
                <a:latin typeface="Times New Roman" panose="02020603050405020304" pitchFamily="18" charset="0"/>
                <a:ea typeface="Calibri" panose="020F0502020204030204" pitchFamily="34" charset="0"/>
                <a:cs typeface="Arial" panose="020B0604020202020204" pitchFamily="34" charset="0"/>
              </a:rPr>
              <a:t>, B. (2006). </a:t>
            </a:r>
            <a:r>
              <a:rPr lang="es-EC" altLang="es-EC" dirty="0" err="1">
                <a:latin typeface="Times New Roman" panose="02020603050405020304" pitchFamily="18" charset="0"/>
                <a:ea typeface="Calibri" panose="020F0502020204030204" pitchFamily="34" charset="0"/>
                <a:cs typeface="Arial" panose="020B0604020202020204" pitchFamily="34" charset="0"/>
              </a:rPr>
              <a:t>Thinking</a:t>
            </a:r>
            <a:r>
              <a:rPr lang="es-EC" altLang="es-EC" dirty="0">
                <a:latin typeface="Times New Roman" panose="02020603050405020304" pitchFamily="18" charset="0"/>
                <a:ea typeface="Calibri" panose="020F0502020204030204" pitchFamily="34" charset="0"/>
                <a:cs typeface="Arial" panose="020B0604020202020204" pitchFamily="34" charset="0"/>
              </a:rPr>
              <a:t> in Java (4th ed.). Prentice Hall.</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Bloch, J. (2018). </a:t>
            </a:r>
            <a:r>
              <a:rPr lang="es-EC" altLang="es-EC" dirty="0" err="1">
                <a:latin typeface="Times New Roman" panose="02020603050405020304" pitchFamily="18" charset="0"/>
                <a:ea typeface="Calibri" panose="020F0502020204030204" pitchFamily="34" charset="0"/>
                <a:cs typeface="Arial" panose="020B0604020202020204" pitchFamily="34" charset="0"/>
              </a:rPr>
              <a:t>Effective</a:t>
            </a:r>
            <a:r>
              <a:rPr lang="es-EC" altLang="es-EC" dirty="0">
                <a:latin typeface="Times New Roman" panose="02020603050405020304" pitchFamily="18" charset="0"/>
                <a:ea typeface="Calibri" panose="020F0502020204030204" pitchFamily="34" charset="0"/>
                <a:cs typeface="Arial" panose="020B0604020202020204" pitchFamily="34" charset="0"/>
              </a:rPr>
              <a:t> Java (3rd ed.). Addison-Wesley.</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Sierra, K., &amp; Bates, B. (2015). Head </a:t>
            </a:r>
            <a:r>
              <a:rPr lang="es-EC" altLang="es-EC" dirty="0" err="1">
                <a:latin typeface="Times New Roman" panose="02020603050405020304" pitchFamily="18" charset="0"/>
                <a:ea typeface="Calibri" panose="020F0502020204030204" pitchFamily="34" charset="0"/>
                <a:cs typeface="Arial" panose="020B0604020202020204" pitchFamily="34" charset="0"/>
              </a:rPr>
              <a:t>First</a:t>
            </a:r>
            <a:r>
              <a:rPr lang="es-EC" altLang="es-EC" dirty="0">
                <a:latin typeface="Times New Roman" panose="02020603050405020304" pitchFamily="18" charset="0"/>
                <a:ea typeface="Calibri" panose="020F0502020204030204" pitchFamily="34" charset="0"/>
                <a:cs typeface="Arial" panose="020B0604020202020204" pitchFamily="34" charset="0"/>
              </a:rPr>
              <a:t> Java (2nd ed.). O'Reilly Media. </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3558</Words>
  <Application>Microsoft Office PowerPoint</Application>
  <PresentationFormat>Panorámica</PresentationFormat>
  <Paragraphs>744</Paragraphs>
  <Slides>20</Slides>
  <Notes>20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20</vt:i4>
      </vt:variant>
    </vt:vector>
  </HeadingPairs>
  <TitlesOfParts>
    <vt:vector size="28" baseType="lpstr">
      <vt:lpstr>SimSun</vt:lpstr>
      <vt:lpstr>Arial</vt:lpstr>
      <vt:lpstr>Calibri</vt:lpstr>
      <vt:lpstr>Noto Sans Symbols</vt:lpstr>
      <vt:lpstr>Times New Roman</vt:lpstr>
      <vt:lpstr>Gill Sans</vt:lpstr>
      <vt:lpstr>Symbol</vt:lpstr>
      <vt:lpstr>Dividendo</vt:lpstr>
      <vt:lpstr>CONVERSIÓN DE UNIDADES SOAP EN JAVA SIN BASE DE DATOS  </vt:lpstr>
      <vt:lpstr>1 OBJETIVO</vt:lpstr>
      <vt:lpstr>1 OBJETIVOS ESPECIFICOS</vt:lpstr>
      <vt:lpstr>2 DESARROLLO</vt:lpstr>
      <vt:lpstr>2.1.1. CREACIÓN DEL PROYECTO SERVIDOR </vt:lpstr>
      <vt:lpstr>Presentación de PowerPoint</vt:lpstr>
      <vt:lpstr>Presentación de PowerPoint</vt:lpstr>
      <vt:lpstr>2.2 CREACIÓN DEL PROYECTO ESCRITORIO CLIENTE</vt:lpstr>
      <vt:lpstr>Presentación de PowerPoint</vt:lpstr>
      <vt:lpstr>Presentación de PowerPoint</vt:lpstr>
      <vt:lpstr>Presentación de PowerPoint</vt:lpstr>
      <vt:lpstr>Presentación de PowerPoint</vt:lpstr>
      <vt:lpstr> 2.3 CREACIÓN DEL CLIENTE EN APLICACIÓN  DE CONSOLA  </vt:lpstr>
      <vt:lpstr> 2.3 CREACIÓN DEL CLIENTE EN APLICACIÓN MÓVIL  </vt:lpstr>
      <vt:lpstr> 2.4. CREACIÓN DEL CLIENTE EN APLICACIÓN DE WEB </vt:lpstr>
      <vt:lpstr> 3 EJECUCIÓN  </vt:lpstr>
      <vt:lpstr>Ejecución del cliente escritorio: </vt:lpstr>
      <vt:lpstr>Presentación de PowerPoint</vt:lpstr>
      <vt:lpstr>4 CONCLUSIONES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Alexander Maila</cp:lastModifiedBy>
  <cp:revision>6</cp:revision>
  <dcterms:created xsi:type="dcterms:W3CDTF">2020-07-10T23:33:49Z</dcterms:created>
  <dcterms:modified xsi:type="dcterms:W3CDTF">2024-07-16T05:32:13Z</dcterms:modified>
</cp:coreProperties>
</file>